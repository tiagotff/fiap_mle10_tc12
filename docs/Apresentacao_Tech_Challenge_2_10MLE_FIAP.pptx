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4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27493D"/>
          </a:solidFill>
          <a:ln/>
        </p:spPr>
      </p:sp>
      <p:pic>
        <p:nvPicPr>
          <p:cNvPr id="3" name="Image 0" descr="/home/claude/pptx_tc2/icons/c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70408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78308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milhões de pedidos </a:t>
            </a:r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C9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um sistema de recomendação de produtos?</a:t>
            </a:r>
            <a:endParaRPr lang="en-US" sz="4000" dirty="0"/>
          </a:p>
        </p:txBody>
      </p:sp>
      <p:pic>
        <p:nvPicPr>
          <p:cNvPr id="6" name="Image 1" descr="/home/claude/pptx_tc2/illustration_tit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3611880"/>
            <a:ext cx="3200400" cy="27980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– MLE10 – Machine Learning Engineering    |    github.com/tiagotff/FIAP_MLE10_TC2    |    linkedin.com/in/tiagofaustino91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B3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Recomendação de produtos não é um recurso a mais — é motor de receita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2148840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774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9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 da receita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 de compradores que clicam numa recomendação — mesmo sendo só 7% do tráfego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931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Salesforce Shopping Index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343400" y="2148840"/>
            <a:ext cx="3520440" cy="2148840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3774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9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a 30%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0" y="29718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aumento médio de receita com personalização líder de mercado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3931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McKinsey &amp; BCG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38160" y="2148840"/>
            <a:ext cx="3520440" cy="2148840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3774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9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366760" y="29718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consumidores compram mais de marcas que oferecem recomendações relevantes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66760" y="3931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pesquisa de mercado em personalização (2025)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8006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nesse cenário — onde recomendação já não é opcional — que este projeto constrói, do zero, um sistema de recomendação real para o Instacart.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– MLE10 – Machine Learning Engineering    |    github.com/tiagotff/FIAP_MLE10_TC2    |    linkedin.com/in/tiagofaustino91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Recomendação genérica, ou aprendida com cada cliente?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309360" cy="1600200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sempre genérica.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maioria das lojas de e-commerce, a recomendação mostra os produtos mais vendidos para todo mundo — sem aprender o padrão de compra de cada cliente.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6309360" cy="1737360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84048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desafio proposto, processei 32,4 milhões de registros de pedidos do Instacart (dataset público Market Basket Analysis) e construí um modelo que aprende esse padrão por usuário e por produto.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78040" y="1874520"/>
            <a:ext cx="4480560" cy="1600200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20116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 milhões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406640" y="26974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pedidos analisados, de ~206 mil usuários e ~50 mil produtos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78040" y="3657600"/>
            <a:ext cx="4480560" cy="1737360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379476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98,8%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406640" y="44805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casos reais de recompra o modelo neural identifica corretamente (recall na validação)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– MLE10 – Machine Learning Engineering    |    github.com/tiagotff/FIAP_MLE10_TC2    |    linkedin.com/in/tiagofaustino91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missão: não parar no notebook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não era treinar um modelo qualquer — era construir o ciclo completo de Machine Learning Engineering, da pergunta de negócio a um sistema rodando de verdade.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468880" cy="1920240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51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0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o histórico de pedidos e definir o sinal de recompra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35808" y="315468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37560" y="2468880"/>
            <a:ext cx="2468880" cy="1920240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651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0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66160" y="3611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a rede neural e comparar com um baseline, com rigor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24728" y="315468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26480" y="2468880"/>
            <a:ext cx="2468880" cy="1920240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651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0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55080" y="3611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o modelo em uma API e um dashboard reais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13648" y="315468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915400" y="2468880"/>
            <a:ext cx="2468880" cy="1920240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2651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0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0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0" y="3611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Documentar, versionar, monitorar e colocar no ar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– MLE10 – Machine Learning Engineering    |    github.com/tiagotff/FIAP_MLE10_TC2    |    linkedin.com/in/tiagofaustino91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modelos, resultados bem diferentes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Treinei uma rede neural híbrida (embeddings + MLP, em PyTorch) e comparei com um baseline clássico (Regressão Logística, só com features tabulares). As duas ficaram próximas em AUC — a decisão real apareceu quando olhei recall.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1554480"/>
        </p:xfrm>
        <a:graphic>
          <a:graphicData uri="http://schemas.openxmlformats.org/drawingml/2006/table">
            <a:tbl>
              <a:tblPr/>
              <a:tblGrid>
                <a:gridCol w="3931920"/>
                <a:gridCol w="1783080"/>
                <a:gridCol w="1783080"/>
                <a:gridCol w="1783080"/>
                <a:gridCol w="1783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3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3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(Regressão Logística)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C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0,8964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C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C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C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Neural (Híbrido)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9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9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C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9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51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neural captura quase todos os casos reais de recompra (recall de 98,8%) — para recomendação, deixar de sugerir um produto relevante custa mais caro do que uma sugestão a mais.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– MLE10 – Machine Learning Engineering    |    github.com/tiagotff/FIAP_MLE10_TC2    |    linkedin.com/in/tiagofaustino91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ideia ao cliente: o caminho que os dados percorrem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treinado não serve para nada parado num notebook. Construímos o caminho completo para que ele chegasse a quem precisa decidir.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514600" cy="2423160"/>
          </a:xfrm>
          <a:prstGeom prst="rect">
            <a:avLst/>
          </a:prstGeom>
          <a:solidFill>
            <a:srgbClr val="27493D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2496312"/>
            <a:ext cx="640080" cy="640080"/>
          </a:xfrm>
          <a:prstGeom prst="ellipse">
            <a:avLst/>
          </a:prstGeom>
          <a:solidFill>
            <a:srgbClr val="1B3B31"/>
          </a:solidFill>
          <a:ln/>
        </p:spPr>
      </p:sp>
      <p:pic>
        <p:nvPicPr>
          <p:cNvPr id="7" name="Image 0" descr="/home/claude/pptx_tc2/icon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204" y="264261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644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aprende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5800" y="36118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 treinada e validada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" y="4233672"/>
            <a:ext cx="1965960" cy="0"/>
          </a:xfrm>
          <a:prstGeom prst="line">
            <a:avLst/>
          </a:prstGeom>
          <a:noFill/>
          <a:ln w="12700">
            <a:solidFill>
              <a:srgbClr val="3D5C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430682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072384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355848" y="2240280"/>
            <a:ext cx="2514600" cy="2423160"/>
          </a:xfrm>
          <a:prstGeom prst="rect">
            <a:avLst/>
          </a:prstGeom>
          <a:solidFill>
            <a:srgbClr val="27493D"/>
          </a:solidFill>
          <a:ln/>
        </p:spPr>
      </p:sp>
      <p:sp>
        <p:nvSpPr>
          <p:cNvPr id="14" name="Shape 11"/>
          <p:cNvSpPr/>
          <p:nvPr/>
        </p:nvSpPr>
        <p:spPr>
          <a:xfrm>
            <a:off x="4293108" y="2496312"/>
            <a:ext cx="640080" cy="640080"/>
          </a:xfrm>
          <a:prstGeom prst="ellipse">
            <a:avLst/>
          </a:prstGeom>
          <a:solidFill>
            <a:srgbClr val="1B3B31"/>
          </a:solidFill>
          <a:ln/>
        </p:spPr>
      </p:sp>
      <p:pic>
        <p:nvPicPr>
          <p:cNvPr id="15" name="Image 1" descr="/home/claude/pptx_tc2/icons/clou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2642616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93008" y="32644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guardado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493008" y="36118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no Model Registry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30168" y="4233672"/>
            <a:ext cx="1965960" cy="0"/>
          </a:xfrm>
          <a:prstGeom prst="line">
            <a:avLst/>
          </a:prstGeom>
          <a:noFill/>
          <a:ln w="12700">
            <a:solidFill>
              <a:srgbClr val="3D5C4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493008" y="430682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· Cloud Storage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879592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6163056" y="2240280"/>
            <a:ext cx="2514600" cy="2423160"/>
          </a:xfrm>
          <a:prstGeom prst="rect">
            <a:avLst/>
          </a:prstGeom>
          <a:solidFill>
            <a:srgbClr val="27493D"/>
          </a:solidFill>
          <a:ln/>
        </p:spPr>
      </p:sp>
      <p:sp>
        <p:nvSpPr>
          <p:cNvPr id="22" name="Shape 18"/>
          <p:cNvSpPr/>
          <p:nvPr/>
        </p:nvSpPr>
        <p:spPr>
          <a:xfrm>
            <a:off x="7100316" y="2496312"/>
            <a:ext cx="640080" cy="640080"/>
          </a:xfrm>
          <a:prstGeom prst="ellipse">
            <a:avLst/>
          </a:prstGeom>
          <a:solidFill>
            <a:srgbClr val="1B3B31"/>
          </a:solidFill>
          <a:ln/>
        </p:spPr>
      </p:sp>
      <p:pic>
        <p:nvPicPr>
          <p:cNvPr id="23" name="Image 2" descr="/home/claude/pptx_tc2/icons/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2642616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00216" y="32644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responde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6300216" y="36118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pública avalia a recompra em tempo real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437376" y="4233672"/>
            <a:ext cx="1965960" cy="0"/>
          </a:xfrm>
          <a:prstGeom prst="line">
            <a:avLst/>
          </a:prstGeom>
          <a:noFill/>
          <a:ln w="12700">
            <a:solidFill>
              <a:srgbClr val="3D5C4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300216" y="430682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Cloud Run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868680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8970264" y="2240280"/>
            <a:ext cx="2514600" cy="2423160"/>
          </a:xfrm>
          <a:prstGeom prst="rect">
            <a:avLst/>
          </a:prstGeom>
          <a:solidFill>
            <a:srgbClr val="27493D"/>
          </a:solidFill>
          <a:ln/>
        </p:spPr>
      </p:sp>
      <p:sp>
        <p:nvSpPr>
          <p:cNvPr id="30" name="Shape 25"/>
          <p:cNvSpPr/>
          <p:nvPr/>
        </p:nvSpPr>
        <p:spPr>
          <a:xfrm>
            <a:off x="9907524" y="2496312"/>
            <a:ext cx="640080" cy="640080"/>
          </a:xfrm>
          <a:prstGeom prst="ellipse">
            <a:avLst/>
          </a:prstGeom>
          <a:solidFill>
            <a:srgbClr val="1B3B31"/>
          </a:solidFill>
          <a:ln/>
        </p:spPr>
      </p:sp>
      <p:pic>
        <p:nvPicPr>
          <p:cNvPr id="31" name="Image 3" descr="/home/claude/pptx_tc2/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3828" y="2642616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07424" y="32644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decide</a:t>
            </a:r>
            <a:endParaRPr lang="en-US" sz="1450" dirty="0"/>
          </a:p>
        </p:txBody>
      </p:sp>
      <p:sp>
        <p:nvSpPr>
          <p:cNvPr id="33" name="Text 27"/>
          <p:cNvSpPr/>
          <p:nvPr/>
        </p:nvSpPr>
        <p:spPr>
          <a:xfrm>
            <a:off x="9107424" y="36118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 time de produto usam o resultado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9244584" y="4233672"/>
            <a:ext cx="1965960" cy="0"/>
          </a:xfrm>
          <a:prstGeom prst="line">
            <a:avLst/>
          </a:prstGeom>
          <a:noFill/>
          <a:ln w="12700">
            <a:solidFill>
              <a:srgbClr val="3D5C4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107424" y="430682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548640" y="4846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modelo melhor for treinado, ele entra nesse mesmo caminho — sem reconstruir nada que já funciona.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– MLE10 – Machine Learning Engineering    |    github.com/tiagotff/FIAP_MLE10_TC2    |    linkedin.com/in/tiagofaustino91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— Sistema de Recomendação Instacart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técnica ponta a ponta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365760"/>
          </a:xfrm>
          <a:prstGeom prst="rect">
            <a:avLst/>
          </a:prstGeom>
          <a:solidFill>
            <a:srgbClr val="1D4B4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&amp; TREINAMENTO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06040" cy="3794760"/>
          </a:xfrm>
          <a:prstGeom prst="rect">
            <a:avLst/>
          </a:prstGeom>
          <a:solidFill>
            <a:srgbClr val="F8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984248"/>
            <a:ext cx="310896" cy="310896"/>
          </a:xfrm>
          <a:prstGeom prst="ellipse">
            <a:avLst/>
          </a:prstGeom>
          <a:solidFill>
            <a:srgbClr val="EEF2ED"/>
          </a:solidFill>
          <a:ln/>
        </p:spPr>
      </p:sp>
      <p:pic>
        <p:nvPicPr>
          <p:cNvPr id="9" name="Image 0" descr="/home/claude/pptx_tc2/icons/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057400"/>
            <a:ext cx="164592" cy="164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4128" y="19568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Dados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" y="227685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Instacart Market Basket — 32,4M linhas (order_products__prior)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621792" y="2825496"/>
            <a:ext cx="2276856" cy="0"/>
          </a:xfrm>
          <a:prstGeom prst="line">
            <a:avLst/>
          </a:prstGeom>
          <a:noFill/>
          <a:ln w="9525">
            <a:solidFill>
              <a:srgbClr val="E0E4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" y="2898648"/>
            <a:ext cx="310896" cy="310896"/>
          </a:xfrm>
          <a:prstGeom prst="ellipse">
            <a:avLst/>
          </a:prstGeom>
          <a:solidFill>
            <a:srgbClr val="EEF2ED"/>
          </a:solidFill>
          <a:ln/>
        </p:spPr>
      </p:sp>
      <p:pic>
        <p:nvPicPr>
          <p:cNvPr id="14" name="Image 1" descr="/home/claude/pptx_tc2/icons/pyth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971800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24128" y="28712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Treinamento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21792" y="319125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embeddings(32) + MLP[128,64,32] · pipeline DVC (seed fixa)</a:t>
            </a:r>
            <a:endParaRPr lang="en-US" sz="870" dirty="0"/>
          </a:p>
        </p:txBody>
      </p:sp>
      <p:sp>
        <p:nvSpPr>
          <p:cNvPr id="17" name="Shape 13"/>
          <p:cNvSpPr/>
          <p:nvPr/>
        </p:nvSpPr>
        <p:spPr>
          <a:xfrm>
            <a:off x="621792" y="3739896"/>
            <a:ext cx="2276856" cy="0"/>
          </a:xfrm>
          <a:prstGeom prst="line">
            <a:avLst/>
          </a:prstGeom>
          <a:noFill/>
          <a:ln w="9525">
            <a:solidFill>
              <a:srgbClr val="E0E4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" y="3813048"/>
            <a:ext cx="310896" cy="310896"/>
          </a:xfrm>
          <a:prstGeom prst="ellipse">
            <a:avLst/>
          </a:prstGeom>
          <a:solidFill>
            <a:srgbClr val="EEF2ED"/>
          </a:solidFill>
          <a:ln/>
        </p:spPr>
      </p:sp>
      <p:pic>
        <p:nvPicPr>
          <p:cNvPr id="19" name="Image 2" descr="/home/claude/pptx_tc2/icons/chartli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886200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24128" y="37856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Experimentos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1792" y="410565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· tracking + Model Registry (Staging → Production)</a:t>
            </a:r>
            <a:endParaRPr lang="en-US" sz="870" dirty="0"/>
          </a:p>
        </p:txBody>
      </p:sp>
      <p:sp>
        <p:nvSpPr>
          <p:cNvPr id="22" name="Shape 17"/>
          <p:cNvSpPr/>
          <p:nvPr/>
        </p:nvSpPr>
        <p:spPr>
          <a:xfrm>
            <a:off x="621792" y="4654296"/>
            <a:ext cx="2276856" cy="0"/>
          </a:xfrm>
          <a:prstGeom prst="line">
            <a:avLst/>
          </a:prstGeom>
          <a:noFill/>
          <a:ln w="9525">
            <a:solidFill>
              <a:srgbClr val="E0E4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1792" y="4727448"/>
            <a:ext cx="310896" cy="310896"/>
          </a:xfrm>
          <a:prstGeom prst="ellipse">
            <a:avLst/>
          </a:prstGeom>
          <a:solidFill>
            <a:srgbClr val="EEF2ED"/>
          </a:solidFill>
          <a:ln/>
        </p:spPr>
      </p:sp>
      <p:pic>
        <p:nvPicPr>
          <p:cNvPr id="24" name="Image 3" descr="/home/claude/pptx_tc2/icons/flas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800600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24128" y="47000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Qualidade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21792" y="502005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(55 testes) · ruff (lint) · Pydantic (schemas)</a:t>
            </a:r>
            <a:endParaRPr lang="en-US" sz="870" dirty="0"/>
          </a:p>
        </p:txBody>
      </p:sp>
      <p:sp>
        <p:nvSpPr>
          <p:cNvPr id="27" name="Shape 21"/>
          <p:cNvSpPr/>
          <p:nvPr/>
        </p:nvSpPr>
        <p:spPr>
          <a:xfrm>
            <a:off x="3264408" y="1417320"/>
            <a:ext cx="5989320" cy="4160520"/>
          </a:xfrm>
          <a:prstGeom prst="rect">
            <a:avLst/>
          </a:prstGeom>
          <a:solidFill>
            <a:srgbClr val="F4F8FE"/>
          </a:solidFill>
          <a:ln w="15875">
            <a:solidFill>
              <a:srgbClr val="9DC0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429000" y="154533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DC0F0"/>
            </a:solidFill>
            <a:prstDash val="solid"/>
          </a:ln>
        </p:spPr>
      </p:sp>
      <p:pic>
        <p:nvPicPr>
          <p:cNvPr id="29" name="Image 4" descr="/home/claude/pptx_tc2/icons/goog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1609344"/>
            <a:ext cx="164592" cy="16459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794760" y="15453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Platform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3447288" y="1892808"/>
            <a:ext cx="5623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GERENCIADOS (CLOUD RUN)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3447288" y="2112264"/>
            <a:ext cx="2514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5"/>
            </a:solidFill>
            <a:prstDash val="solid"/>
          </a:ln>
        </p:spPr>
      </p:sp>
      <p:pic>
        <p:nvPicPr>
          <p:cNvPr id="33" name="Image 5" descr="/home/claude/pptx_tc2/icons/desktop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448" y="2231136"/>
            <a:ext cx="182880" cy="1828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584448" y="243230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recommender-api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3584448" y="263347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Inferência (FastAPI)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3584448" y="291693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/  ·  /health  ·  /ready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/predict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/predict/batch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/metadata  ·  /metrics</a:t>
            </a:r>
            <a:endParaRPr lang="en-US" sz="750" dirty="0"/>
          </a:p>
        </p:txBody>
      </p:sp>
      <p:sp>
        <p:nvSpPr>
          <p:cNvPr id="37" name="Text 29"/>
          <p:cNvSpPr/>
          <p:nvPr/>
        </p:nvSpPr>
        <p:spPr>
          <a:xfrm>
            <a:off x="5916168" y="247802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5989320" y="270662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6556248" y="2112264"/>
            <a:ext cx="2514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5"/>
            </a:solidFill>
            <a:prstDash val="solid"/>
          </a:ln>
        </p:spPr>
      </p:sp>
      <p:pic>
        <p:nvPicPr>
          <p:cNvPr id="40" name="Image 6" descr="/home/claude/pptx_tc2/icons/users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08" y="2231136"/>
            <a:ext cx="182880" cy="18288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693408" y="243230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recommender-dashboard</a:t>
            </a:r>
            <a:endParaRPr lang="en-US" sz="800" dirty="0"/>
          </a:p>
        </p:txBody>
      </p:sp>
      <p:sp>
        <p:nvSpPr>
          <p:cNvPr id="42" name="Text 33"/>
          <p:cNvSpPr/>
          <p:nvPr/>
        </p:nvSpPr>
        <p:spPr>
          <a:xfrm>
            <a:off x="6693408" y="273405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(Streamlit)</a:t>
            </a:r>
            <a:endParaRPr lang="en-US" sz="800" dirty="0"/>
          </a:p>
        </p:txBody>
      </p:sp>
      <p:sp>
        <p:nvSpPr>
          <p:cNvPr id="43" name="Text 34"/>
          <p:cNvSpPr/>
          <p:nvPr/>
        </p:nvSpPr>
        <p:spPr>
          <a:xfrm>
            <a:off x="6693408" y="293522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Consome a API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Predição única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Upload de lote (CSV)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Resultados priorizados</a:t>
            </a:r>
            <a:endParaRPr lang="en-US" sz="750" dirty="0"/>
          </a:p>
        </p:txBody>
      </p:sp>
      <p:sp>
        <p:nvSpPr>
          <p:cNvPr id="44" name="Text 35"/>
          <p:cNvSpPr/>
          <p:nvPr/>
        </p:nvSpPr>
        <p:spPr>
          <a:xfrm>
            <a:off x="3447288" y="3584448"/>
            <a:ext cx="5623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DADOS</a:t>
            </a:r>
            <a:endParaRPr lang="en-US" sz="850" dirty="0"/>
          </a:p>
        </p:txBody>
      </p:sp>
      <p:sp>
        <p:nvSpPr>
          <p:cNvPr id="45" name="Shape 36"/>
          <p:cNvSpPr/>
          <p:nvPr/>
        </p:nvSpPr>
        <p:spPr>
          <a:xfrm>
            <a:off x="4265676" y="3803904"/>
            <a:ext cx="237744" cy="237744"/>
          </a:xfrm>
          <a:prstGeom prst="ellipse">
            <a:avLst/>
          </a:prstGeom>
          <a:solidFill>
            <a:srgbClr val="1B3B31"/>
          </a:solidFill>
          <a:ln/>
        </p:spPr>
      </p:sp>
      <p:pic>
        <p:nvPicPr>
          <p:cNvPr id="46" name="Image 7" descr="/home/claude/pptx_tc2/icons/cloud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5968" y="3854196"/>
            <a:ext cx="137160" cy="13716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3493008" y="407822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800" dirty="0"/>
          </a:p>
        </p:txBody>
      </p:sp>
      <p:sp>
        <p:nvSpPr>
          <p:cNvPr id="48" name="Text 38"/>
          <p:cNvSpPr/>
          <p:nvPr/>
        </p:nvSpPr>
        <p:spPr>
          <a:xfrm>
            <a:off x="3493008" y="4251960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de modelos por versão</a:t>
            </a:r>
            <a:endParaRPr lang="en-US" sz="670" dirty="0"/>
          </a:p>
        </p:txBody>
      </p:sp>
      <p:sp>
        <p:nvSpPr>
          <p:cNvPr id="49" name="Shape 39"/>
          <p:cNvSpPr/>
          <p:nvPr/>
        </p:nvSpPr>
        <p:spPr>
          <a:xfrm>
            <a:off x="6140196" y="3803904"/>
            <a:ext cx="237744" cy="237744"/>
          </a:xfrm>
          <a:prstGeom prst="ellipse">
            <a:avLst/>
          </a:prstGeom>
          <a:solidFill>
            <a:srgbClr val="EEF2ED"/>
          </a:solidFill>
          <a:ln/>
        </p:spPr>
      </p:sp>
      <p:pic>
        <p:nvPicPr>
          <p:cNvPr id="50" name="Image 8" descr="/home/claude/pptx_tc2/icons/box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0488" y="3854196"/>
            <a:ext cx="137160" cy="13716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5367528" y="407822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Registry</a:t>
            </a:r>
            <a:endParaRPr lang="en-US" sz="800" dirty="0"/>
          </a:p>
        </p:txBody>
      </p:sp>
      <p:sp>
        <p:nvSpPr>
          <p:cNvPr id="52" name="Text 41"/>
          <p:cNvSpPr/>
          <p:nvPr/>
        </p:nvSpPr>
        <p:spPr>
          <a:xfrm>
            <a:off x="5367528" y="4251960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Docker versionadas</a:t>
            </a:r>
            <a:endParaRPr lang="en-US" sz="670" dirty="0"/>
          </a:p>
        </p:txBody>
      </p:sp>
      <p:sp>
        <p:nvSpPr>
          <p:cNvPr id="53" name="Shape 42"/>
          <p:cNvSpPr/>
          <p:nvPr/>
        </p:nvSpPr>
        <p:spPr>
          <a:xfrm>
            <a:off x="8014716" y="3803904"/>
            <a:ext cx="237744" cy="237744"/>
          </a:xfrm>
          <a:prstGeom prst="ellipse">
            <a:avLst/>
          </a:prstGeom>
          <a:solidFill>
            <a:srgbClr val="EEF2ED"/>
          </a:solidFill>
          <a:ln/>
        </p:spPr>
      </p:sp>
      <p:pic>
        <p:nvPicPr>
          <p:cNvPr id="54" name="Image 9" descr="/home/claude/pptx_tc2/icons/filealt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5008" y="3854196"/>
            <a:ext cx="137160" cy="137160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7242048" y="407822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model_metrics.json</a:t>
            </a:r>
            <a:endParaRPr lang="en-US" sz="800" dirty="0"/>
          </a:p>
        </p:txBody>
      </p:sp>
      <p:sp>
        <p:nvSpPr>
          <p:cNvPr id="56" name="Text 44"/>
          <p:cNvSpPr/>
          <p:nvPr/>
        </p:nvSpPr>
        <p:spPr>
          <a:xfrm>
            <a:off x="7242048" y="4251960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do treino</a:t>
            </a:r>
            <a:endParaRPr lang="en-US" sz="670" dirty="0"/>
          </a:p>
        </p:txBody>
      </p:sp>
      <p:sp>
        <p:nvSpPr>
          <p:cNvPr id="57" name="Text 45"/>
          <p:cNvSpPr/>
          <p:nvPr/>
        </p:nvSpPr>
        <p:spPr>
          <a:xfrm>
            <a:off x="3447288" y="4489704"/>
            <a:ext cx="5623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 E MONITORAMENTO</a:t>
            </a:r>
            <a:endParaRPr lang="en-US" sz="850" dirty="0"/>
          </a:p>
        </p:txBody>
      </p:sp>
      <p:sp>
        <p:nvSpPr>
          <p:cNvPr id="58" name="Shape 46"/>
          <p:cNvSpPr/>
          <p:nvPr/>
        </p:nvSpPr>
        <p:spPr>
          <a:xfrm>
            <a:off x="4040505" y="4709160"/>
            <a:ext cx="219456" cy="219456"/>
          </a:xfrm>
          <a:prstGeom prst="ellipse">
            <a:avLst/>
          </a:prstGeom>
          <a:solidFill>
            <a:srgbClr val="EEF2ED"/>
          </a:solidFill>
          <a:ln/>
        </p:spPr>
      </p:sp>
      <p:pic>
        <p:nvPicPr>
          <p:cNvPr id="59" name="Image 10" descr="/home/claude/pptx_tc2/icons/chartbar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86225" y="4754880"/>
            <a:ext cx="128016" cy="128016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3474720" y="4965192"/>
            <a:ext cx="135102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</a:t>
            </a:r>
            <a:endParaRPr lang="en-US" sz="750" dirty="0"/>
          </a:p>
        </p:txBody>
      </p:sp>
      <p:sp>
        <p:nvSpPr>
          <p:cNvPr id="61" name="Text 48"/>
          <p:cNvSpPr/>
          <p:nvPr/>
        </p:nvSpPr>
        <p:spPr>
          <a:xfrm>
            <a:off x="3474720" y="5129784"/>
            <a:ext cx="13510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e throughput</a:t>
            </a:r>
            <a:endParaRPr lang="en-US" sz="630" dirty="0"/>
          </a:p>
        </p:txBody>
      </p:sp>
      <p:sp>
        <p:nvSpPr>
          <p:cNvPr id="62" name="Shape 49"/>
          <p:cNvSpPr/>
          <p:nvPr/>
        </p:nvSpPr>
        <p:spPr>
          <a:xfrm>
            <a:off x="5446395" y="4709160"/>
            <a:ext cx="219456" cy="219456"/>
          </a:xfrm>
          <a:prstGeom prst="ellipse">
            <a:avLst/>
          </a:prstGeom>
          <a:solidFill>
            <a:srgbClr val="EEF2ED"/>
          </a:solidFill>
          <a:ln/>
        </p:spPr>
      </p:sp>
      <p:pic>
        <p:nvPicPr>
          <p:cNvPr id="63" name="Image 11" descr="/home/claude/pptx_tc2/icons/eye_nav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92115" y="4754880"/>
            <a:ext cx="128016" cy="128016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4880610" y="4965192"/>
            <a:ext cx="135102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750" dirty="0"/>
          </a:p>
        </p:txBody>
      </p:sp>
      <p:sp>
        <p:nvSpPr>
          <p:cNvPr id="65" name="Text 51"/>
          <p:cNvSpPr/>
          <p:nvPr/>
        </p:nvSpPr>
        <p:spPr>
          <a:xfrm>
            <a:off x="4880610" y="5129784"/>
            <a:ext cx="13510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estruturado</a:t>
            </a:r>
            <a:endParaRPr lang="en-US" sz="630" dirty="0"/>
          </a:p>
        </p:txBody>
      </p:sp>
      <p:sp>
        <p:nvSpPr>
          <p:cNvPr id="66" name="Shape 52"/>
          <p:cNvSpPr/>
          <p:nvPr/>
        </p:nvSpPr>
        <p:spPr>
          <a:xfrm>
            <a:off x="6852285" y="4709160"/>
            <a:ext cx="219456" cy="219456"/>
          </a:xfrm>
          <a:prstGeom prst="ellipse">
            <a:avLst/>
          </a:prstGeom>
          <a:solidFill>
            <a:srgbClr val="EEF2ED"/>
          </a:solidFill>
          <a:ln/>
        </p:spPr>
      </p:sp>
      <p:pic>
        <p:nvPicPr>
          <p:cNvPr id="67" name="Image 12" descr="/home/claude/pptx_tc2/icons/bell_nav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98005" y="4754880"/>
            <a:ext cx="128016" cy="128016"/>
          </a:xfrm>
          <a:prstGeom prst="rect">
            <a:avLst/>
          </a:prstGeom>
        </p:spPr>
      </p:pic>
      <p:sp>
        <p:nvSpPr>
          <p:cNvPr id="68" name="Text 53"/>
          <p:cNvSpPr/>
          <p:nvPr/>
        </p:nvSpPr>
        <p:spPr>
          <a:xfrm>
            <a:off x="6286500" y="4965192"/>
            <a:ext cx="135102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</p:txBody>
      </p:sp>
      <p:sp>
        <p:nvSpPr>
          <p:cNvPr id="69" name="Text 54"/>
          <p:cNvSpPr/>
          <p:nvPr/>
        </p:nvSpPr>
        <p:spPr>
          <a:xfrm>
            <a:off x="6286500" y="5129784"/>
            <a:ext cx="13510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latência, erro 5xx</a:t>
            </a:r>
            <a:endParaRPr lang="en-US" sz="630" dirty="0"/>
          </a:p>
        </p:txBody>
      </p:sp>
      <p:sp>
        <p:nvSpPr>
          <p:cNvPr id="70" name="Shape 55"/>
          <p:cNvSpPr/>
          <p:nvPr/>
        </p:nvSpPr>
        <p:spPr>
          <a:xfrm>
            <a:off x="8258175" y="4709160"/>
            <a:ext cx="219456" cy="219456"/>
          </a:xfrm>
          <a:prstGeom prst="ellipse">
            <a:avLst/>
          </a:prstGeom>
          <a:solidFill>
            <a:srgbClr val="EEF2ED"/>
          </a:solidFill>
          <a:ln/>
        </p:spPr>
      </p:sp>
      <p:pic>
        <p:nvPicPr>
          <p:cNvPr id="71" name="Image 13" descr="/home/claude/pptx_tc2/icons/idcard_nav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3895" y="4754880"/>
            <a:ext cx="128016" cy="128016"/>
          </a:xfrm>
          <a:prstGeom prst="rect">
            <a:avLst/>
          </a:prstGeom>
        </p:spPr>
      </p:pic>
      <p:sp>
        <p:nvSpPr>
          <p:cNvPr id="72" name="Text 56"/>
          <p:cNvSpPr/>
          <p:nvPr/>
        </p:nvSpPr>
        <p:spPr>
          <a:xfrm>
            <a:off x="7692390" y="4965192"/>
            <a:ext cx="135102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</a:t>
            </a:r>
            <a:endParaRPr lang="en-US" sz="750" dirty="0"/>
          </a:p>
        </p:txBody>
      </p:sp>
      <p:sp>
        <p:nvSpPr>
          <p:cNvPr id="73" name="Text 57"/>
          <p:cNvSpPr/>
          <p:nvPr/>
        </p:nvSpPr>
        <p:spPr>
          <a:xfrm>
            <a:off x="7692390" y="5129784"/>
            <a:ext cx="13510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 vieses</a:t>
            </a:r>
            <a:endParaRPr lang="en-US" sz="630" dirty="0"/>
          </a:p>
        </p:txBody>
      </p:sp>
      <p:sp>
        <p:nvSpPr>
          <p:cNvPr id="74" name="Shape 58"/>
          <p:cNvSpPr/>
          <p:nvPr/>
        </p:nvSpPr>
        <p:spPr>
          <a:xfrm>
            <a:off x="9454896" y="1417320"/>
            <a:ext cx="2276856" cy="365760"/>
          </a:xfrm>
          <a:prstGeom prst="rect">
            <a:avLst/>
          </a:prstGeom>
          <a:solidFill>
            <a:srgbClr val="8C5A2B"/>
          </a:solidFill>
          <a:ln/>
        </p:spPr>
      </p:sp>
      <p:sp>
        <p:nvSpPr>
          <p:cNvPr id="75" name="Text 59"/>
          <p:cNvSpPr/>
          <p:nvPr/>
        </p:nvSpPr>
        <p:spPr>
          <a:xfrm>
            <a:off x="9454896" y="1417320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/ APLICAÇÕES</a:t>
            </a:r>
            <a:endParaRPr lang="en-US" sz="1050" dirty="0"/>
          </a:p>
        </p:txBody>
      </p:sp>
      <p:sp>
        <p:nvSpPr>
          <p:cNvPr id="76" name="Shape 60"/>
          <p:cNvSpPr/>
          <p:nvPr/>
        </p:nvSpPr>
        <p:spPr>
          <a:xfrm>
            <a:off x="9454896" y="1783080"/>
            <a:ext cx="2276856" cy="379476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77" name="Text 61"/>
          <p:cNvSpPr/>
          <p:nvPr/>
        </p:nvSpPr>
        <p:spPr>
          <a:xfrm>
            <a:off x="9637776" y="1965960"/>
            <a:ext cx="1911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(Streamlit)</a:t>
            </a:r>
            <a:endParaRPr lang="en-US" sz="1000" dirty="0"/>
          </a:p>
        </p:txBody>
      </p:sp>
      <p:sp>
        <p:nvSpPr>
          <p:cNvPr id="78" name="Text 62"/>
          <p:cNvSpPr/>
          <p:nvPr/>
        </p:nvSpPr>
        <p:spPr>
          <a:xfrm>
            <a:off x="9637776" y="2212848"/>
            <a:ext cx="191109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7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Predição única (formulário)</a:t>
            </a:r>
            <a:endParaRPr lang="en-US" sz="87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7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Upload de lote (CSV)</a:t>
            </a:r>
            <a:endParaRPr lang="en-US" sz="87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7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Download do resultado priorizado</a:t>
            </a:r>
            <a:endParaRPr lang="en-US" sz="870" dirty="0"/>
          </a:p>
        </p:txBody>
      </p:sp>
      <p:sp>
        <p:nvSpPr>
          <p:cNvPr id="79" name="Text 63"/>
          <p:cNvSpPr/>
          <p:nvPr/>
        </p:nvSpPr>
        <p:spPr>
          <a:xfrm>
            <a:off x="9637776" y="3236976"/>
            <a:ext cx="1911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via API</a:t>
            </a:r>
            <a:endParaRPr lang="en-US" sz="1000" dirty="0"/>
          </a:p>
        </p:txBody>
      </p:sp>
      <p:sp>
        <p:nvSpPr>
          <p:cNvPr id="80" name="Text 64"/>
          <p:cNvSpPr/>
          <p:nvPr/>
        </p:nvSpPr>
        <p:spPr>
          <a:xfrm>
            <a:off x="9637776" y="3483864"/>
            <a:ext cx="191109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7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Sistemas de e-commerce</a:t>
            </a:r>
            <a:endParaRPr lang="en-US" sz="87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7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Workflows de recomendação</a:t>
            </a:r>
            <a:endParaRPr lang="en-US" sz="87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7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Automação de marketing</a:t>
            </a:r>
            <a:endParaRPr lang="en-US" sz="870" dirty="0"/>
          </a:p>
        </p:txBody>
      </p:sp>
      <p:sp>
        <p:nvSpPr>
          <p:cNvPr id="81" name="Text 65"/>
          <p:cNvSpPr/>
          <p:nvPr/>
        </p:nvSpPr>
        <p:spPr>
          <a:xfrm>
            <a:off x="9637776" y="4507992"/>
            <a:ext cx="1911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endParaRPr lang="en-US" sz="1000" dirty="0"/>
          </a:p>
        </p:txBody>
      </p:sp>
      <p:sp>
        <p:nvSpPr>
          <p:cNvPr id="82" name="Text 66"/>
          <p:cNvSpPr/>
          <p:nvPr/>
        </p:nvSpPr>
        <p:spPr>
          <a:xfrm>
            <a:off x="9637776" y="4754880"/>
            <a:ext cx="19110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7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Time de produto / e-commerce</a:t>
            </a:r>
            <a:endParaRPr lang="en-US" sz="87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7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Analistas de dados</a:t>
            </a:r>
            <a:endParaRPr lang="en-US" sz="870" dirty="0"/>
          </a:p>
        </p:txBody>
      </p:sp>
      <p:sp>
        <p:nvSpPr>
          <p:cNvPr id="83" name="Shape 67"/>
          <p:cNvSpPr/>
          <p:nvPr/>
        </p:nvSpPr>
        <p:spPr>
          <a:xfrm>
            <a:off x="457200" y="5742432"/>
            <a:ext cx="11274552" cy="713232"/>
          </a:xfrm>
          <a:prstGeom prst="rect">
            <a:avLst/>
          </a:prstGeom>
          <a:solidFill>
            <a:srgbClr val="F8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4" name="Text 68"/>
          <p:cNvSpPr/>
          <p:nvPr/>
        </p:nvSpPr>
        <p:spPr>
          <a:xfrm>
            <a:off x="640080" y="57972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850" dirty="0"/>
          </a:p>
        </p:txBody>
      </p:sp>
      <p:sp>
        <p:nvSpPr>
          <p:cNvPr id="85" name="Shape 69"/>
          <p:cNvSpPr/>
          <p:nvPr/>
        </p:nvSpPr>
        <p:spPr>
          <a:xfrm>
            <a:off x="1411986" y="5943600"/>
            <a:ext cx="274320" cy="274320"/>
          </a:xfrm>
          <a:prstGeom prst="ellipse">
            <a:avLst/>
          </a:prstGeom>
          <a:solidFill>
            <a:srgbClr val="EEF2ED"/>
          </a:solidFill>
          <a:ln/>
        </p:spPr>
      </p:sp>
      <p:pic>
        <p:nvPicPr>
          <p:cNvPr id="86" name="Image 14" descr="/home/claude/pptx_tc2/icons/github_nav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75994" y="6007608"/>
            <a:ext cx="146304" cy="146304"/>
          </a:xfrm>
          <a:prstGeom prst="rect">
            <a:avLst/>
          </a:prstGeom>
        </p:spPr>
      </p:pic>
      <p:sp>
        <p:nvSpPr>
          <p:cNvPr id="87" name="Text 70"/>
          <p:cNvSpPr/>
          <p:nvPr/>
        </p:nvSpPr>
        <p:spPr>
          <a:xfrm>
            <a:off x="640080" y="6245352"/>
            <a:ext cx="18181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Code Commit</a:t>
            </a:r>
            <a:endParaRPr lang="en-US" sz="780" dirty="0"/>
          </a:p>
        </p:txBody>
      </p:sp>
      <p:sp>
        <p:nvSpPr>
          <p:cNvPr id="88" name="Text 71"/>
          <p:cNvSpPr/>
          <p:nvPr/>
        </p:nvSpPr>
        <p:spPr>
          <a:xfrm>
            <a:off x="2348484" y="594360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89" name="Shape 72"/>
          <p:cNvSpPr/>
          <p:nvPr/>
        </p:nvSpPr>
        <p:spPr>
          <a:xfrm>
            <a:off x="3230118" y="5943600"/>
            <a:ext cx="274320" cy="274320"/>
          </a:xfrm>
          <a:prstGeom prst="ellipse">
            <a:avLst/>
          </a:prstGeom>
          <a:solidFill>
            <a:srgbClr val="EEF2ED"/>
          </a:solidFill>
          <a:ln/>
        </p:spPr>
      </p:sp>
      <p:pic>
        <p:nvPicPr>
          <p:cNvPr id="90" name="Image 15" descr="/home/claude/pptx_tc2/icons/flask_nav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94126" y="6007608"/>
            <a:ext cx="146304" cy="146304"/>
          </a:xfrm>
          <a:prstGeom prst="rect">
            <a:avLst/>
          </a:prstGeom>
        </p:spPr>
      </p:pic>
      <p:sp>
        <p:nvSpPr>
          <p:cNvPr id="91" name="Text 73"/>
          <p:cNvSpPr/>
          <p:nvPr/>
        </p:nvSpPr>
        <p:spPr>
          <a:xfrm>
            <a:off x="2458212" y="6245352"/>
            <a:ext cx="18181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Testes</a:t>
            </a:r>
            <a:endParaRPr lang="en-US" sz="780" dirty="0"/>
          </a:p>
        </p:txBody>
      </p:sp>
      <p:sp>
        <p:nvSpPr>
          <p:cNvPr id="92" name="Text 74"/>
          <p:cNvSpPr/>
          <p:nvPr/>
        </p:nvSpPr>
        <p:spPr>
          <a:xfrm>
            <a:off x="4166616" y="594360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93" name="Shape 75"/>
          <p:cNvSpPr/>
          <p:nvPr/>
        </p:nvSpPr>
        <p:spPr>
          <a:xfrm>
            <a:off x="5048250" y="5943600"/>
            <a:ext cx="274320" cy="274320"/>
          </a:xfrm>
          <a:prstGeom prst="ellipse">
            <a:avLst/>
          </a:prstGeom>
          <a:solidFill>
            <a:srgbClr val="EEF2ED"/>
          </a:solidFill>
          <a:ln/>
        </p:spPr>
      </p:sp>
      <p:pic>
        <p:nvPicPr>
          <p:cNvPr id="94" name="Image 16" descr="/home/claude/pptx_tc2/icons/dockeralt_nav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12258" y="6007608"/>
            <a:ext cx="146304" cy="146304"/>
          </a:xfrm>
          <a:prstGeom prst="rect">
            <a:avLst/>
          </a:prstGeom>
        </p:spPr>
      </p:pic>
      <p:sp>
        <p:nvSpPr>
          <p:cNvPr id="95" name="Text 76"/>
          <p:cNvSpPr/>
          <p:nvPr/>
        </p:nvSpPr>
        <p:spPr>
          <a:xfrm>
            <a:off x="4276344" y="6245352"/>
            <a:ext cx="18181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Imagem</a:t>
            </a:r>
            <a:endParaRPr lang="en-US" sz="780" dirty="0"/>
          </a:p>
        </p:txBody>
      </p:sp>
      <p:sp>
        <p:nvSpPr>
          <p:cNvPr id="96" name="Text 77"/>
          <p:cNvSpPr/>
          <p:nvPr/>
        </p:nvSpPr>
        <p:spPr>
          <a:xfrm>
            <a:off x="5984748" y="594360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97" name="Shape 78"/>
          <p:cNvSpPr/>
          <p:nvPr/>
        </p:nvSpPr>
        <p:spPr>
          <a:xfrm>
            <a:off x="6866382" y="5943600"/>
            <a:ext cx="274320" cy="274320"/>
          </a:xfrm>
          <a:prstGeom prst="ellipse">
            <a:avLst/>
          </a:prstGeom>
          <a:solidFill>
            <a:srgbClr val="EEF2ED"/>
          </a:solidFill>
          <a:ln/>
        </p:spPr>
      </p:sp>
      <p:pic>
        <p:nvPicPr>
          <p:cNvPr id="98" name="Image 17" descr="/home/claude/pptx_tc2/icons/tools_nav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30390" y="6007608"/>
            <a:ext cx="146304" cy="146304"/>
          </a:xfrm>
          <a:prstGeom prst="rect">
            <a:avLst/>
          </a:prstGeom>
        </p:spPr>
      </p:pic>
      <p:sp>
        <p:nvSpPr>
          <p:cNvPr id="99" name="Text 79"/>
          <p:cNvSpPr/>
          <p:nvPr/>
        </p:nvSpPr>
        <p:spPr>
          <a:xfrm>
            <a:off x="6094476" y="6245352"/>
            <a:ext cx="18181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Cloud Build</a:t>
            </a:r>
            <a:endParaRPr lang="en-US" sz="780" dirty="0"/>
          </a:p>
        </p:txBody>
      </p:sp>
      <p:sp>
        <p:nvSpPr>
          <p:cNvPr id="100" name="Text 80"/>
          <p:cNvSpPr/>
          <p:nvPr/>
        </p:nvSpPr>
        <p:spPr>
          <a:xfrm>
            <a:off x="7802880" y="594360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01" name="Shape 81"/>
          <p:cNvSpPr/>
          <p:nvPr/>
        </p:nvSpPr>
        <p:spPr>
          <a:xfrm>
            <a:off x="8684514" y="5943600"/>
            <a:ext cx="274320" cy="274320"/>
          </a:xfrm>
          <a:prstGeom prst="ellipse">
            <a:avLst/>
          </a:prstGeom>
          <a:solidFill>
            <a:srgbClr val="EEF2ED"/>
          </a:solidFill>
          <a:ln/>
        </p:spPr>
      </p:sp>
      <p:pic>
        <p:nvPicPr>
          <p:cNvPr id="102" name="Image 18" descr="/home/claude/pptx_tc2/icons/server_nav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48522" y="6007608"/>
            <a:ext cx="146304" cy="146304"/>
          </a:xfrm>
          <a:prstGeom prst="rect">
            <a:avLst/>
          </a:prstGeom>
        </p:spPr>
      </p:pic>
      <p:sp>
        <p:nvSpPr>
          <p:cNvPr id="103" name="Text 82"/>
          <p:cNvSpPr/>
          <p:nvPr/>
        </p:nvSpPr>
        <p:spPr>
          <a:xfrm>
            <a:off x="7912608" y="6245352"/>
            <a:ext cx="18181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Deploy</a:t>
            </a:r>
            <a:endParaRPr lang="en-US" sz="780" dirty="0"/>
          </a:p>
        </p:txBody>
      </p:sp>
      <p:sp>
        <p:nvSpPr>
          <p:cNvPr id="104" name="Text 83"/>
          <p:cNvSpPr/>
          <p:nvPr/>
        </p:nvSpPr>
        <p:spPr>
          <a:xfrm>
            <a:off x="9621012" y="594360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05" name="Shape 84"/>
          <p:cNvSpPr/>
          <p:nvPr/>
        </p:nvSpPr>
        <p:spPr>
          <a:xfrm>
            <a:off x="10502646" y="5943600"/>
            <a:ext cx="274320" cy="274320"/>
          </a:xfrm>
          <a:prstGeom prst="ellipse">
            <a:avLst/>
          </a:prstGeom>
          <a:solidFill>
            <a:srgbClr val="EEF2ED"/>
          </a:solidFill>
          <a:ln/>
        </p:spPr>
      </p:sp>
      <p:pic>
        <p:nvPicPr>
          <p:cNvPr id="106" name="Image 19" descr="/home/claude/pptx_tc2/icons/cloudupload_nav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66654" y="6007608"/>
            <a:ext cx="146304" cy="146304"/>
          </a:xfrm>
          <a:prstGeom prst="rect">
            <a:avLst/>
          </a:prstGeom>
        </p:spPr>
      </p:pic>
      <p:sp>
        <p:nvSpPr>
          <p:cNvPr id="107" name="Text 85"/>
          <p:cNvSpPr/>
          <p:nvPr/>
        </p:nvSpPr>
        <p:spPr>
          <a:xfrm>
            <a:off x="9730740" y="6245352"/>
            <a:ext cx="18181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Versiona Modelo</a:t>
            </a:r>
            <a:endParaRPr lang="en-US" sz="780" dirty="0"/>
          </a:p>
        </p:txBody>
      </p:sp>
      <p:sp>
        <p:nvSpPr>
          <p:cNvPr id="108" name="Text 86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– MLE10 – Machine Learning Engineering    |    github.com/tiagotff/FIAP_MLE10_TC2    |    linkedin.com/in/tiagofaustino91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essa jornada deixou pronto?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96896" cy="1965960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03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98,8%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recall — quase nenhum caso real de recompra passa despercebido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4992" y="1874520"/>
            <a:ext cx="2596896" cy="1965960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103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+28%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566160" y="265176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recompra real capturada, frente a um modelo estatístico clássico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874520"/>
            <a:ext cx="2596896" cy="1965960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2103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 menor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382512" y="265176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infraestrutura da API — deploys mais rápidos e baratos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97696" y="1874520"/>
            <a:ext cx="2596896" cy="1965960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14" name="Text 12"/>
          <p:cNvSpPr/>
          <p:nvPr/>
        </p:nvSpPr>
        <p:spPr>
          <a:xfrm>
            <a:off x="9198864" y="2103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ar, agora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98864" y="265176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 dashboard públicos, prontos pra integrar com qualquer e-commerce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062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i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 que mais importou: a métrica que parecia decidir tudo (AUC) quase não mudava entre os dois modelos — a diferença real apareceu quando parei de olhar acerto médio e passei a contar quantas oportunidades de venda um recall baixo deixaria escapar.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– MLE10 – Machine Learning Engineering    |    github.com/tiagotff/FIAP_MLE10_TC2    |    linkedin.com/in/tiagofaustino91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3812" y="448056"/>
            <a:ext cx="1481328" cy="1481328"/>
          </a:xfrm>
          <a:prstGeom prst="ellipse">
            <a:avLst/>
          </a:prstGeom>
          <a:ln w="25400">
            <a:solidFill>
              <a:srgbClr val="C9982F"/>
            </a:solidFill>
            <a:prstDash val="solid"/>
          </a:ln>
        </p:spPr>
      </p:sp>
      <p:pic>
        <p:nvPicPr>
          <p:cNvPr id="3" name="Image 0" descr="/home/claude/pptx_tc2/foto_tia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8676" y="502920"/>
            <a:ext cx="1371600" cy="13716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2084832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Tiago de Freitas Faustino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828800" y="2542032"/>
            <a:ext cx="8531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2  ·  FIAP MLE10  ·  Machine Learning Engineering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828800" y="2871216"/>
            <a:ext cx="8531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Vamos conversar sobre a arquitetura, os resultados ou os próximos passos.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56916" y="3364992"/>
            <a:ext cx="3200400" cy="457200"/>
          </a:xfrm>
          <a:prstGeom prst="rect">
            <a:avLst/>
          </a:prstGeom>
          <a:solidFill>
            <a:srgbClr val="27493D"/>
          </a:solidFill>
          <a:ln/>
        </p:spPr>
      </p:sp>
      <p:pic>
        <p:nvPicPr>
          <p:cNvPr id="8" name="Image 1" descr="/home/claude/pptx_tc2/icons/githu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516" y="3483864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05556" y="33649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github.com/tiagotff/FIAP_MLE10_TC2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31636" y="3364992"/>
            <a:ext cx="3200400" cy="457200"/>
          </a:xfrm>
          <a:prstGeom prst="rect">
            <a:avLst/>
          </a:prstGeom>
          <a:solidFill>
            <a:srgbClr val="27493D"/>
          </a:solidFill>
          <a:ln/>
        </p:spPr>
      </p:sp>
      <p:pic>
        <p:nvPicPr>
          <p:cNvPr id="11" name="Image 2" descr="/home/claude/pptx_tc2/icons/linked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36" y="348386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80276" y="33649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linkedin.com/in/tiagofaustino91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1645920" y="4160520"/>
            <a:ext cx="8897112" cy="1920240"/>
          </a:xfrm>
          <a:prstGeom prst="rect">
            <a:avLst/>
          </a:prstGeom>
          <a:solidFill>
            <a:srgbClr val="27493D"/>
          </a:solidFill>
          <a:ln/>
        </p:spPr>
      </p:sp>
      <p:sp>
        <p:nvSpPr>
          <p:cNvPr id="14" name="Text 9"/>
          <p:cNvSpPr/>
          <p:nvPr/>
        </p:nvSpPr>
        <p:spPr>
          <a:xfrm>
            <a:off x="1965960" y="4343400"/>
            <a:ext cx="8257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D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EM PRODUÇÃO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965960" y="4690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434840" y="4690872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recommender-api-761613283146.us-central1.run.app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1965960" y="5074920"/>
            <a:ext cx="8257032" cy="0"/>
          </a:xfrm>
          <a:prstGeom prst="line">
            <a:avLst/>
          </a:prstGeom>
          <a:noFill/>
          <a:ln w="9525">
            <a:solidFill>
              <a:srgbClr val="3D5C4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965960" y="51480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434840" y="5148072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recommender-dashboard-761613283146.us-central1.run.app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965960" y="5532120"/>
            <a:ext cx="8257032" cy="0"/>
          </a:xfrm>
          <a:prstGeom prst="line">
            <a:avLst/>
          </a:prstGeom>
          <a:noFill/>
          <a:ln w="9525">
            <a:solidFill>
              <a:srgbClr val="3D5C4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965960" y="56052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(Swagger UI)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434840" y="5605272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recommender-api-761613283146.us-central1.run.app/docs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2026-07-24T00:00:35Z</dcterms:created>
  <dcterms:modified xsi:type="dcterms:W3CDTF">2026-07-24T00:00:35Z</dcterms:modified>
</cp:coreProperties>
</file>